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7" r:id="rId2"/>
    <p:sldId id="258" r:id="rId3"/>
    <p:sldId id="336" r:id="rId4"/>
    <p:sldId id="357" r:id="rId5"/>
    <p:sldId id="358" r:id="rId6"/>
    <p:sldId id="391" r:id="rId7"/>
    <p:sldId id="392" r:id="rId8"/>
    <p:sldId id="393" r:id="rId9"/>
    <p:sldId id="364" r:id="rId10"/>
    <p:sldId id="39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2661" autoAdjust="0"/>
  </p:normalViewPr>
  <p:slideViewPr>
    <p:cSldViewPr snapToGrid="0" showGuides="1">
      <p:cViewPr varScale="1">
        <p:scale>
          <a:sx n="106" d="100"/>
          <a:sy n="106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4F474-635C-4CFE-8D9C-7770C1AB3C59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6252A-117A-42E0-9CDC-0A2BC844A6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43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37BEBD-75DE-4F71-B27A-1FC86135577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87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5BD95C-8B60-4016-B063-43936C7F99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634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4BD0-3FDE-5380-4BA7-C4385F27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34968F-8658-48D7-4AC1-D68C9F59D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9B7992-8071-3836-DFC7-C72A1E6B3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 코드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import java.io.*;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java.util</a:t>
            </a:r>
            <a:r>
              <a:rPr lang="en-US" altLang="ko-KR" dirty="0"/>
              <a:t>.*;</a:t>
            </a:r>
          </a:p>
          <a:p>
            <a:endParaRPr lang="en-US" altLang="ko-KR" dirty="0"/>
          </a:p>
          <a:p>
            <a:r>
              <a:rPr lang="en-US" altLang="ko-KR" dirty="0"/>
              <a:t>class </a:t>
            </a:r>
            <a:r>
              <a:rPr lang="en-US" altLang="ko-KR" dirty="0" err="1"/>
              <a:t>UserSolution</a:t>
            </a:r>
            <a:r>
              <a:rPr lang="en-US" altLang="ko-KR" dirty="0"/>
              <a:t> {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class Edge {</a:t>
            </a:r>
          </a:p>
          <a:p>
            <a:r>
              <a:rPr lang="en-US" altLang="ko-KR" dirty="0"/>
              <a:t>		int to;</a:t>
            </a:r>
          </a:p>
          <a:p>
            <a:r>
              <a:rPr lang="en-US" altLang="ko-KR" dirty="0"/>
              <a:t>		int cost;</a:t>
            </a:r>
          </a:p>
          <a:p>
            <a:r>
              <a:rPr lang="en-US" altLang="ko-KR" dirty="0"/>
              <a:t>		Edge(int to, int cost) {</a:t>
            </a:r>
          </a:p>
          <a:p>
            <a:r>
              <a:rPr lang="en-US" altLang="ko-KR" dirty="0"/>
              <a:t>			this.to = to;</a:t>
            </a:r>
          </a:p>
          <a:p>
            <a:r>
              <a:rPr lang="en-US" altLang="ko-KR" dirty="0"/>
              <a:t>			</a:t>
            </a:r>
            <a:r>
              <a:rPr lang="en-US" altLang="ko-KR" dirty="0" err="1"/>
              <a:t>this.cost</a:t>
            </a:r>
            <a:r>
              <a:rPr lang="en-US" altLang="ko-KR" dirty="0"/>
              <a:t> = cost; 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ArrayList</a:t>
            </a:r>
            <a:r>
              <a:rPr lang="en-US" altLang="ko-KR" dirty="0"/>
              <a:t>&lt;Edge&gt;[] al; </a:t>
            </a:r>
          </a:p>
          <a:p>
            <a:r>
              <a:rPr lang="en-US" altLang="ko-KR" dirty="0"/>
              <a:t>	int[] visited;</a:t>
            </a:r>
          </a:p>
          <a:p>
            <a:r>
              <a:rPr lang="en-US" altLang="ko-KR" dirty="0"/>
              <a:t>	int cc; 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void </a:t>
            </a:r>
            <a:r>
              <a:rPr lang="en-US" altLang="ko-KR" dirty="0" err="1"/>
              <a:t>pushEdge</a:t>
            </a:r>
            <a:r>
              <a:rPr lang="en-US" altLang="ko-KR" dirty="0"/>
              <a:t>(int </a:t>
            </a:r>
            <a:r>
              <a:rPr lang="en-US" altLang="ko-KR" dirty="0" err="1"/>
              <a:t>st</a:t>
            </a:r>
            <a:r>
              <a:rPr lang="en-US" altLang="ko-KR" dirty="0"/>
              <a:t>, int </a:t>
            </a:r>
            <a:r>
              <a:rPr lang="en-US" altLang="ko-KR" dirty="0" err="1"/>
              <a:t>en</a:t>
            </a:r>
            <a:r>
              <a:rPr lang="en-US" altLang="ko-KR" dirty="0"/>
              <a:t>, int cost) {</a:t>
            </a:r>
          </a:p>
          <a:p>
            <a:r>
              <a:rPr lang="en-US" altLang="ko-KR" dirty="0"/>
              <a:t>		al[</a:t>
            </a:r>
            <a:r>
              <a:rPr lang="en-US" altLang="ko-KR" dirty="0" err="1"/>
              <a:t>st</a:t>
            </a:r>
            <a:r>
              <a:rPr lang="en-US" altLang="ko-KR" dirty="0"/>
              <a:t>].add(new Edge(</a:t>
            </a:r>
            <a:r>
              <a:rPr lang="en-US" altLang="ko-KR" dirty="0" err="1"/>
              <a:t>en</a:t>
            </a:r>
            <a:r>
              <a:rPr lang="en-US" altLang="ko-KR" dirty="0"/>
              <a:t>, cost));</a:t>
            </a:r>
          </a:p>
          <a:p>
            <a:r>
              <a:rPr lang="en-US" altLang="ko-KR" dirty="0"/>
              <a:t>		al[</a:t>
            </a:r>
            <a:r>
              <a:rPr lang="en-US" altLang="ko-KR" dirty="0" err="1"/>
              <a:t>en</a:t>
            </a:r>
            <a:r>
              <a:rPr lang="en-US" altLang="ko-KR" dirty="0"/>
              <a:t>].add(new Edge(</a:t>
            </a:r>
            <a:r>
              <a:rPr lang="en-US" altLang="ko-KR" dirty="0" err="1"/>
              <a:t>st</a:t>
            </a:r>
            <a:r>
              <a:rPr lang="en-US" altLang="ko-KR" dirty="0"/>
              <a:t>, cost)); 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public void </a:t>
            </a:r>
            <a:r>
              <a:rPr lang="en-US" altLang="ko-KR" dirty="0" err="1"/>
              <a:t>init</a:t>
            </a:r>
            <a:r>
              <a:rPr lang="en-US" altLang="ko-KR" dirty="0"/>
              <a:t>(int N, int K, int[] </a:t>
            </a:r>
            <a:r>
              <a:rPr lang="en-US" altLang="ko-KR" dirty="0" err="1"/>
              <a:t>sCity</a:t>
            </a:r>
            <a:r>
              <a:rPr lang="en-US" altLang="ko-KR" dirty="0"/>
              <a:t>, int[] </a:t>
            </a:r>
            <a:r>
              <a:rPr lang="en-US" altLang="ko-KR" dirty="0" err="1"/>
              <a:t>eCity</a:t>
            </a:r>
            <a:r>
              <a:rPr lang="en-US" altLang="ko-KR" dirty="0"/>
              <a:t>, int[] </a:t>
            </a:r>
            <a:r>
              <a:rPr lang="en-US" altLang="ko-KR" dirty="0" err="1"/>
              <a:t>mLimit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		al = new </a:t>
            </a:r>
            <a:r>
              <a:rPr lang="en-US" altLang="ko-KR" dirty="0" err="1"/>
              <a:t>ArrayList</a:t>
            </a:r>
            <a:r>
              <a:rPr lang="en-US" altLang="ko-KR" dirty="0"/>
              <a:t>[N];</a:t>
            </a:r>
          </a:p>
          <a:p>
            <a:r>
              <a:rPr lang="en-US" altLang="ko-KR" dirty="0"/>
              <a:t>		for(int </a:t>
            </a:r>
            <a:r>
              <a:rPr lang="en-US" altLang="ko-KR" dirty="0" err="1"/>
              <a:t>i</a:t>
            </a:r>
            <a:r>
              <a:rPr lang="en-US" altLang="ko-KR" dirty="0"/>
              <a:t> = 0; </a:t>
            </a:r>
            <a:r>
              <a:rPr lang="en-US" altLang="ko-KR" dirty="0" err="1"/>
              <a:t>i</a:t>
            </a:r>
            <a:r>
              <a:rPr lang="en-US" altLang="ko-KR" dirty="0"/>
              <a:t> &lt; N; </a:t>
            </a:r>
            <a:r>
              <a:rPr lang="en-US" altLang="ko-KR" dirty="0" err="1"/>
              <a:t>i</a:t>
            </a:r>
            <a:r>
              <a:rPr lang="en-US" altLang="ko-KR" dirty="0"/>
              <a:t>++) {</a:t>
            </a:r>
          </a:p>
          <a:p>
            <a:r>
              <a:rPr lang="en-US" altLang="ko-KR" dirty="0"/>
              <a:t>			al[</a:t>
            </a:r>
            <a:r>
              <a:rPr lang="en-US" altLang="ko-KR" dirty="0" err="1"/>
              <a:t>i</a:t>
            </a:r>
            <a:r>
              <a:rPr lang="en-US" altLang="ko-KR" dirty="0"/>
              <a:t>] = new </a:t>
            </a:r>
            <a:r>
              <a:rPr lang="en-US" altLang="ko-KR" dirty="0" err="1"/>
              <a:t>ArrayList</a:t>
            </a:r>
            <a:r>
              <a:rPr lang="en-US" altLang="ko-KR" dirty="0"/>
              <a:t>&lt;&gt;();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	visited = new int[N];</a:t>
            </a:r>
          </a:p>
          <a:p>
            <a:r>
              <a:rPr lang="en-US" altLang="ko-KR" dirty="0"/>
              <a:t>		cc = 0; </a:t>
            </a:r>
          </a:p>
          <a:p>
            <a:r>
              <a:rPr lang="en-US" altLang="ko-KR" dirty="0"/>
              <a:t>		</a:t>
            </a:r>
          </a:p>
          <a:p>
            <a:r>
              <a:rPr lang="en-US" altLang="ko-KR" dirty="0"/>
              <a:t>		// </a:t>
            </a:r>
            <a:r>
              <a:rPr lang="en-US" altLang="ko-KR" dirty="0" err="1"/>
              <a:t>init</a:t>
            </a:r>
            <a:endParaRPr lang="en-US" altLang="ko-KR" dirty="0"/>
          </a:p>
          <a:p>
            <a:r>
              <a:rPr lang="en-US" altLang="ko-KR" dirty="0"/>
              <a:t>		for(int </a:t>
            </a:r>
            <a:r>
              <a:rPr lang="en-US" altLang="ko-KR" dirty="0" err="1"/>
              <a:t>i</a:t>
            </a:r>
            <a:r>
              <a:rPr lang="en-US" altLang="ko-KR" dirty="0"/>
              <a:t> = 0; </a:t>
            </a:r>
            <a:r>
              <a:rPr lang="en-US" altLang="ko-KR" dirty="0" err="1"/>
              <a:t>i</a:t>
            </a:r>
            <a:r>
              <a:rPr lang="en-US" altLang="ko-KR" dirty="0"/>
              <a:t> &lt; K; </a:t>
            </a:r>
            <a:r>
              <a:rPr lang="en-US" altLang="ko-KR" dirty="0" err="1"/>
              <a:t>i</a:t>
            </a:r>
            <a:r>
              <a:rPr lang="en-US" altLang="ko-KR" dirty="0"/>
              <a:t>++) {</a:t>
            </a:r>
          </a:p>
          <a:p>
            <a:r>
              <a:rPr lang="en-US" altLang="ko-KR" dirty="0"/>
              <a:t>			</a:t>
            </a:r>
            <a:r>
              <a:rPr lang="en-US" altLang="ko-KR" dirty="0" err="1"/>
              <a:t>pushEdge</a:t>
            </a:r>
            <a:r>
              <a:rPr lang="en-US" altLang="ko-KR" dirty="0"/>
              <a:t>(</a:t>
            </a:r>
            <a:r>
              <a:rPr lang="en-US" altLang="ko-KR" dirty="0" err="1"/>
              <a:t>sCity</a:t>
            </a:r>
            <a:r>
              <a:rPr lang="en-US" altLang="ko-KR" dirty="0"/>
              <a:t>[</a:t>
            </a:r>
            <a:r>
              <a:rPr lang="en-US" altLang="ko-KR" dirty="0" err="1"/>
              <a:t>i</a:t>
            </a:r>
            <a:r>
              <a:rPr lang="en-US" altLang="ko-KR" dirty="0"/>
              <a:t>], </a:t>
            </a:r>
            <a:r>
              <a:rPr lang="en-US" altLang="ko-KR" dirty="0" err="1"/>
              <a:t>eCity</a:t>
            </a:r>
            <a:r>
              <a:rPr lang="en-US" altLang="ko-KR" dirty="0"/>
              <a:t>[</a:t>
            </a:r>
            <a:r>
              <a:rPr lang="en-US" altLang="ko-KR" dirty="0" err="1"/>
              <a:t>i</a:t>
            </a:r>
            <a:r>
              <a:rPr lang="en-US" altLang="ko-KR" dirty="0"/>
              <a:t>], </a:t>
            </a:r>
            <a:r>
              <a:rPr lang="en-US" altLang="ko-KR" dirty="0" err="1"/>
              <a:t>mLimit</a:t>
            </a:r>
            <a:r>
              <a:rPr lang="en-US" altLang="ko-KR" dirty="0"/>
              <a:t>[</a:t>
            </a:r>
            <a:r>
              <a:rPr lang="en-US" altLang="ko-KR" dirty="0" err="1"/>
              <a:t>i</a:t>
            </a:r>
            <a:r>
              <a:rPr lang="en-US" altLang="ko-KR" dirty="0"/>
              <a:t>]); 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	return;</a:t>
            </a:r>
          </a:p>
          <a:p>
            <a:r>
              <a:rPr lang="en-US" altLang="ko-KR" dirty="0"/>
              <a:t>	}</a:t>
            </a:r>
          </a:p>
          <a:p>
            <a:endParaRPr lang="en-US" altLang="ko-KR" dirty="0"/>
          </a:p>
          <a:p>
            <a:r>
              <a:rPr lang="en-US" altLang="ko-KR" dirty="0"/>
              <a:t>	// 1,400</a:t>
            </a:r>
          </a:p>
          <a:p>
            <a:r>
              <a:rPr lang="en-US" altLang="ko-KR" dirty="0"/>
              <a:t>	public void add(int </a:t>
            </a:r>
            <a:r>
              <a:rPr lang="en-US" altLang="ko-KR" dirty="0" err="1"/>
              <a:t>sCity</a:t>
            </a:r>
            <a:r>
              <a:rPr lang="en-US" altLang="ko-KR" dirty="0"/>
              <a:t>, int </a:t>
            </a:r>
            <a:r>
              <a:rPr lang="en-US" altLang="ko-KR" dirty="0" err="1"/>
              <a:t>eCity</a:t>
            </a:r>
            <a:r>
              <a:rPr lang="en-US" altLang="ko-KR" dirty="0"/>
              <a:t>, int </a:t>
            </a:r>
            <a:r>
              <a:rPr lang="en-US" altLang="ko-KR" dirty="0" err="1"/>
              <a:t>mLimit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pushEdge</a:t>
            </a:r>
            <a:r>
              <a:rPr lang="en-US" altLang="ko-KR" dirty="0"/>
              <a:t>(</a:t>
            </a:r>
            <a:r>
              <a:rPr lang="en-US" altLang="ko-KR" dirty="0" err="1"/>
              <a:t>sCity</a:t>
            </a:r>
            <a:r>
              <a:rPr lang="en-US" altLang="ko-KR" dirty="0"/>
              <a:t>, </a:t>
            </a:r>
            <a:r>
              <a:rPr lang="en-US" altLang="ko-KR" dirty="0" err="1"/>
              <a:t>eCity</a:t>
            </a:r>
            <a:r>
              <a:rPr lang="en-US" altLang="ko-KR" dirty="0"/>
              <a:t>, </a:t>
            </a:r>
            <a:r>
              <a:rPr lang="en-US" altLang="ko-KR" dirty="0" err="1"/>
              <a:t>mLimit</a:t>
            </a:r>
            <a:r>
              <a:rPr lang="en-US" altLang="ko-KR" dirty="0"/>
              <a:t>); </a:t>
            </a:r>
          </a:p>
          <a:p>
            <a:r>
              <a:rPr lang="en-US" altLang="ko-KR" dirty="0"/>
              <a:t>		return; </a:t>
            </a:r>
          </a:p>
          <a:p>
            <a:r>
              <a:rPr lang="en-US" altLang="ko-KR" dirty="0"/>
              <a:t>	}</a:t>
            </a:r>
          </a:p>
          <a:p>
            <a:endParaRPr lang="en-US" altLang="ko-KR" dirty="0"/>
          </a:p>
          <a:p>
            <a:r>
              <a:rPr lang="en-US" altLang="ko-KR" dirty="0"/>
              <a:t>	// 100</a:t>
            </a:r>
          </a:p>
          <a:p>
            <a:r>
              <a:rPr lang="en-US" altLang="ko-KR" dirty="0"/>
              <a:t>	// 100 x BFS x </a:t>
            </a:r>
            <a:r>
              <a:rPr lang="en-US" altLang="ko-KR" dirty="0" err="1"/>
              <a:t>parameteric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	// 100 x (V+E) x log(30000)</a:t>
            </a:r>
          </a:p>
          <a:p>
            <a:r>
              <a:rPr lang="en-US" altLang="ko-KR" dirty="0"/>
              <a:t>	// 100 x (1000+3400) x 15</a:t>
            </a:r>
          </a:p>
          <a:p>
            <a:r>
              <a:rPr lang="en-US" altLang="ko-KR" dirty="0"/>
              <a:t>	// 6,600,000</a:t>
            </a:r>
          </a:p>
          <a:p>
            <a:r>
              <a:rPr lang="en-US" altLang="ko-KR" dirty="0"/>
              <a:t>	public int calculate(int </a:t>
            </a:r>
            <a:r>
              <a:rPr lang="en-US" altLang="ko-KR" dirty="0" err="1"/>
              <a:t>sCity</a:t>
            </a:r>
            <a:r>
              <a:rPr lang="en-US" altLang="ko-KR" dirty="0"/>
              <a:t>, int </a:t>
            </a:r>
            <a:r>
              <a:rPr lang="en-US" altLang="ko-KR" dirty="0" err="1"/>
              <a:t>eCity</a:t>
            </a:r>
            <a:r>
              <a:rPr lang="en-US" altLang="ko-KR" dirty="0"/>
              <a:t>, int M, int[] </a:t>
            </a:r>
            <a:r>
              <a:rPr lang="en-US" altLang="ko-KR" dirty="0" err="1"/>
              <a:t>mStopover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		int left = 0;</a:t>
            </a:r>
          </a:p>
          <a:p>
            <a:r>
              <a:rPr lang="en-US" altLang="ko-KR" dirty="0"/>
              <a:t>		int right = 30000; </a:t>
            </a:r>
          </a:p>
          <a:p>
            <a:r>
              <a:rPr lang="en-US" altLang="ko-KR" dirty="0"/>
              <a:t>		</a:t>
            </a:r>
          </a:p>
          <a:p>
            <a:r>
              <a:rPr lang="en-US" altLang="ko-KR" dirty="0"/>
              <a:t>		while(left &lt;= right) {</a:t>
            </a:r>
          </a:p>
          <a:p>
            <a:r>
              <a:rPr lang="en-US" altLang="ko-KR" dirty="0"/>
              <a:t>			int mid = (left + right) / 2;</a:t>
            </a:r>
          </a:p>
          <a:p>
            <a:r>
              <a:rPr lang="en-US" altLang="ko-KR" dirty="0"/>
              <a:t>			if(</a:t>
            </a:r>
            <a:r>
              <a:rPr lang="en-US" altLang="ko-KR" dirty="0" err="1"/>
              <a:t>isPossible</a:t>
            </a:r>
            <a:r>
              <a:rPr lang="en-US" altLang="ko-KR" dirty="0"/>
              <a:t>(mid, </a:t>
            </a:r>
            <a:r>
              <a:rPr lang="en-US" altLang="ko-KR" dirty="0" err="1"/>
              <a:t>sCity</a:t>
            </a:r>
            <a:r>
              <a:rPr lang="en-US" altLang="ko-KR" dirty="0"/>
              <a:t>, </a:t>
            </a:r>
            <a:r>
              <a:rPr lang="en-US" altLang="ko-KR" dirty="0" err="1"/>
              <a:t>eCity</a:t>
            </a:r>
            <a:r>
              <a:rPr lang="en-US" altLang="ko-KR" dirty="0"/>
              <a:t>, M, </a:t>
            </a:r>
            <a:r>
              <a:rPr lang="en-US" altLang="ko-KR" dirty="0" err="1"/>
              <a:t>mStopover</a:t>
            </a:r>
            <a:r>
              <a:rPr lang="en-US" altLang="ko-KR" dirty="0"/>
              <a:t>)) </a:t>
            </a:r>
          </a:p>
          <a:p>
            <a:r>
              <a:rPr lang="en-US" altLang="ko-KR" dirty="0"/>
              <a:t>				left = mid + 1; </a:t>
            </a:r>
          </a:p>
          <a:p>
            <a:r>
              <a:rPr lang="en-US" altLang="ko-KR" dirty="0"/>
              <a:t>			else</a:t>
            </a:r>
          </a:p>
          <a:p>
            <a:r>
              <a:rPr lang="en-US" altLang="ko-KR" dirty="0"/>
              <a:t>				right = mid - 1; 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	return right; 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boolean</a:t>
            </a:r>
            <a:r>
              <a:rPr lang="en-US" altLang="ko-KR" dirty="0"/>
              <a:t> </a:t>
            </a:r>
            <a:r>
              <a:rPr lang="en-US" altLang="ko-KR" dirty="0" err="1"/>
              <a:t>isPossible</a:t>
            </a:r>
            <a:r>
              <a:rPr lang="en-US" altLang="ko-KR" dirty="0"/>
              <a:t>(int limit, int </a:t>
            </a:r>
            <a:r>
              <a:rPr lang="en-US" altLang="ko-KR" dirty="0" err="1"/>
              <a:t>st</a:t>
            </a:r>
            <a:r>
              <a:rPr lang="en-US" altLang="ko-KR" dirty="0"/>
              <a:t>, int </a:t>
            </a:r>
            <a:r>
              <a:rPr lang="en-US" altLang="ko-KR" dirty="0" err="1"/>
              <a:t>en</a:t>
            </a:r>
            <a:r>
              <a:rPr lang="en-US" altLang="ko-KR" dirty="0"/>
              <a:t>, int m, int[] stops)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ArrayDeque</a:t>
            </a:r>
            <a:r>
              <a:rPr lang="en-US" altLang="ko-KR" dirty="0"/>
              <a:t>&lt;Integer&gt;q = new </a:t>
            </a:r>
            <a:r>
              <a:rPr lang="en-US" altLang="ko-KR" dirty="0" err="1"/>
              <a:t>ArrayDeque</a:t>
            </a:r>
            <a:r>
              <a:rPr lang="en-US" altLang="ko-KR" dirty="0"/>
              <a:t>&lt;&gt;();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q.add</a:t>
            </a:r>
            <a:r>
              <a:rPr lang="en-US" altLang="ko-KR" dirty="0"/>
              <a:t>(</a:t>
            </a:r>
            <a:r>
              <a:rPr lang="en-US" altLang="ko-KR" dirty="0" err="1"/>
              <a:t>st</a:t>
            </a:r>
            <a:r>
              <a:rPr lang="en-US" altLang="ko-KR" dirty="0"/>
              <a:t>); </a:t>
            </a:r>
          </a:p>
          <a:p>
            <a:r>
              <a:rPr lang="en-US" altLang="ko-KR" dirty="0"/>
              <a:t>		</a:t>
            </a:r>
          </a:p>
          <a:p>
            <a:r>
              <a:rPr lang="en-US" altLang="ko-KR" dirty="0"/>
              <a:t>		cc++;</a:t>
            </a:r>
          </a:p>
          <a:p>
            <a:r>
              <a:rPr lang="en-US" altLang="ko-KR" dirty="0"/>
              <a:t>		visited[</a:t>
            </a:r>
            <a:r>
              <a:rPr lang="en-US" altLang="ko-KR" dirty="0" err="1"/>
              <a:t>st</a:t>
            </a:r>
            <a:r>
              <a:rPr lang="en-US" altLang="ko-KR" dirty="0"/>
              <a:t>] = cc;</a:t>
            </a:r>
          </a:p>
          <a:p>
            <a:r>
              <a:rPr lang="en-US" altLang="ko-KR" dirty="0"/>
              <a:t>		int </a:t>
            </a:r>
            <a:r>
              <a:rPr lang="en-US" altLang="ko-KR" dirty="0" err="1"/>
              <a:t>cnt</a:t>
            </a:r>
            <a:r>
              <a:rPr lang="en-US" altLang="ko-KR" dirty="0"/>
              <a:t> = 0; </a:t>
            </a:r>
          </a:p>
          <a:p>
            <a:r>
              <a:rPr lang="en-US" altLang="ko-KR" dirty="0"/>
              <a:t>		</a:t>
            </a:r>
          </a:p>
          <a:p>
            <a:r>
              <a:rPr lang="en-US" altLang="ko-KR" dirty="0"/>
              <a:t>		while(!</a:t>
            </a:r>
            <a:r>
              <a:rPr lang="en-US" altLang="ko-KR" dirty="0" err="1"/>
              <a:t>q.isEmpty</a:t>
            </a:r>
            <a:r>
              <a:rPr lang="en-US" altLang="ko-KR" dirty="0"/>
              <a:t>()) {</a:t>
            </a:r>
          </a:p>
          <a:p>
            <a:r>
              <a:rPr lang="en-US" altLang="ko-KR" dirty="0"/>
              <a:t>			int now = </a:t>
            </a:r>
            <a:r>
              <a:rPr lang="en-US" altLang="ko-KR" dirty="0" err="1"/>
              <a:t>q.remove</a:t>
            </a:r>
            <a:r>
              <a:rPr lang="en-US" altLang="ko-KR" dirty="0"/>
              <a:t>(); </a:t>
            </a:r>
          </a:p>
          <a:p>
            <a:r>
              <a:rPr lang="en-US" altLang="ko-KR" dirty="0"/>
              <a:t>			</a:t>
            </a:r>
          </a:p>
          <a:p>
            <a:r>
              <a:rPr lang="en-US" altLang="ko-KR" dirty="0"/>
              <a:t>			// </a:t>
            </a:r>
            <a:r>
              <a:rPr lang="ko-KR" altLang="en-US" dirty="0"/>
              <a:t>가지치기 </a:t>
            </a:r>
            <a:r>
              <a:rPr lang="en-US" altLang="ko-KR" dirty="0"/>
              <a:t>-&gt; </a:t>
            </a:r>
            <a:r>
              <a:rPr lang="ko-KR" altLang="en-US" dirty="0"/>
              <a:t>경로 내에 이미 조건이 충족되었다면 더 확인 필요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			if(now == </a:t>
            </a:r>
            <a:r>
              <a:rPr lang="en-US" altLang="ko-KR" dirty="0" err="1"/>
              <a:t>en</a:t>
            </a:r>
            <a:r>
              <a:rPr lang="en-US" altLang="ko-KR" dirty="0"/>
              <a:t> &amp;&amp; </a:t>
            </a:r>
            <a:r>
              <a:rPr lang="en-US" altLang="ko-KR" dirty="0" err="1"/>
              <a:t>cnt</a:t>
            </a:r>
            <a:r>
              <a:rPr lang="en-US" altLang="ko-KR" dirty="0"/>
              <a:t> == m)</a:t>
            </a:r>
          </a:p>
          <a:p>
            <a:r>
              <a:rPr lang="en-US" altLang="ko-KR" dirty="0"/>
              <a:t>				return true;</a:t>
            </a:r>
          </a:p>
          <a:p>
            <a:r>
              <a:rPr lang="en-US" altLang="ko-KR" dirty="0"/>
              <a:t>			</a:t>
            </a:r>
          </a:p>
          <a:p>
            <a:r>
              <a:rPr lang="en-US" altLang="ko-KR" dirty="0"/>
              <a:t>			// </a:t>
            </a:r>
            <a:r>
              <a:rPr lang="ko-KR" altLang="en-US" dirty="0"/>
              <a:t>만약 경유지를 하나 확인했다면 </a:t>
            </a:r>
            <a:r>
              <a:rPr lang="en-US" altLang="ko-KR" dirty="0"/>
              <a:t>-&gt; </a:t>
            </a:r>
            <a:r>
              <a:rPr lang="ko-KR" altLang="en-US" dirty="0"/>
              <a:t>경유지 개수 </a:t>
            </a:r>
            <a:r>
              <a:rPr lang="en-US" altLang="ko-KR" dirty="0"/>
              <a:t>count </a:t>
            </a:r>
          </a:p>
          <a:p>
            <a:r>
              <a:rPr lang="en-US" altLang="ko-KR" dirty="0"/>
              <a:t>			for(int </a:t>
            </a:r>
            <a:r>
              <a:rPr lang="en-US" altLang="ko-KR" dirty="0" err="1"/>
              <a:t>i</a:t>
            </a:r>
            <a:r>
              <a:rPr lang="en-US" altLang="ko-KR" dirty="0"/>
              <a:t> = 0; </a:t>
            </a:r>
            <a:r>
              <a:rPr lang="en-US" altLang="ko-KR" dirty="0" err="1"/>
              <a:t>i</a:t>
            </a:r>
            <a:r>
              <a:rPr lang="en-US" altLang="ko-KR" dirty="0"/>
              <a:t> &lt; m; </a:t>
            </a:r>
            <a:r>
              <a:rPr lang="en-US" altLang="ko-KR" dirty="0" err="1"/>
              <a:t>i</a:t>
            </a:r>
            <a:r>
              <a:rPr lang="en-US" altLang="ko-KR" dirty="0"/>
              <a:t>++) {</a:t>
            </a:r>
          </a:p>
          <a:p>
            <a:r>
              <a:rPr lang="en-US" altLang="ko-KR" dirty="0"/>
              <a:t>				if(now == stops[</a:t>
            </a:r>
            <a:r>
              <a:rPr lang="en-US" altLang="ko-KR" dirty="0" err="1"/>
              <a:t>i</a:t>
            </a:r>
            <a:r>
              <a:rPr lang="en-US" altLang="ko-KR" dirty="0"/>
              <a:t>]) {</a:t>
            </a:r>
          </a:p>
          <a:p>
            <a:r>
              <a:rPr lang="en-US" altLang="ko-KR" dirty="0"/>
              <a:t>					</a:t>
            </a:r>
            <a:r>
              <a:rPr lang="en-US" altLang="ko-KR" dirty="0" err="1"/>
              <a:t>cnt</a:t>
            </a:r>
            <a:r>
              <a:rPr lang="en-US" altLang="ko-KR" dirty="0"/>
              <a:t>++;</a:t>
            </a:r>
          </a:p>
          <a:p>
            <a:r>
              <a:rPr lang="en-US" altLang="ko-KR" dirty="0"/>
              <a:t>					break; </a:t>
            </a:r>
          </a:p>
          <a:p>
            <a:r>
              <a:rPr lang="en-US" altLang="ko-KR" dirty="0"/>
              <a:t>				}</a:t>
            </a:r>
          </a:p>
          <a:p>
            <a:r>
              <a:rPr lang="en-US" altLang="ko-KR" dirty="0"/>
              <a:t>			}</a:t>
            </a:r>
          </a:p>
          <a:p>
            <a:r>
              <a:rPr lang="en-US" altLang="ko-KR" dirty="0"/>
              <a:t>			</a:t>
            </a:r>
          </a:p>
          <a:p>
            <a:r>
              <a:rPr lang="en-US" altLang="ko-KR" dirty="0"/>
              <a:t>			for(Edge next : al[now]) {</a:t>
            </a:r>
          </a:p>
          <a:p>
            <a:r>
              <a:rPr lang="en-US" altLang="ko-KR" dirty="0"/>
              <a:t>				if(visited[next.to] == cc)</a:t>
            </a:r>
          </a:p>
          <a:p>
            <a:r>
              <a:rPr lang="en-US" altLang="ko-KR" dirty="0"/>
              <a:t>					continue;</a:t>
            </a:r>
          </a:p>
          <a:p>
            <a:r>
              <a:rPr lang="en-US" altLang="ko-KR" dirty="0"/>
              <a:t>				if(</a:t>
            </a:r>
            <a:r>
              <a:rPr lang="en-US" altLang="ko-KR" dirty="0" err="1"/>
              <a:t>next.cost</a:t>
            </a:r>
            <a:r>
              <a:rPr lang="en-US" altLang="ko-KR" dirty="0"/>
              <a:t> &lt; limit)</a:t>
            </a:r>
          </a:p>
          <a:p>
            <a:r>
              <a:rPr lang="en-US" altLang="ko-KR" dirty="0"/>
              <a:t>					continue; </a:t>
            </a:r>
          </a:p>
          <a:p>
            <a:r>
              <a:rPr lang="en-US" altLang="ko-KR" dirty="0"/>
              <a:t>				visited[next.to] = cc;</a:t>
            </a:r>
          </a:p>
          <a:p>
            <a:r>
              <a:rPr lang="en-US" altLang="ko-KR" dirty="0"/>
              <a:t>				</a:t>
            </a:r>
            <a:r>
              <a:rPr lang="en-US" altLang="ko-KR" dirty="0" err="1"/>
              <a:t>q.add</a:t>
            </a:r>
            <a:r>
              <a:rPr lang="en-US" altLang="ko-KR" dirty="0"/>
              <a:t>(next.to);</a:t>
            </a:r>
          </a:p>
          <a:p>
            <a:r>
              <a:rPr lang="en-US" altLang="ko-KR" dirty="0"/>
              <a:t>			}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	</a:t>
            </a:r>
          </a:p>
          <a:p>
            <a:r>
              <a:rPr lang="en-US" altLang="ko-KR" dirty="0"/>
              <a:t>		// </a:t>
            </a:r>
            <a:r>
              <a:rPr lang="ko-KR" altLang="en-US" dirty="0"/>
              <a:t>마지막 체크</a:t>
            </a:r>
          </a:p>
          <a:p>
            <a:r>
              <a:rPr lang="ko-KR" altLang="en-US" dirty="0"/>
              <a:t>		</a:t>
            </a:r>
            <a:r>
              <a:rPr lang="en-US" altLang="ko-KR" dirty="0"/>
              <a:t>// #1. </a:t>
            </a:r>
            <a:r>
              <a:rPr lang="en-US" altLang="ko-KR" dirty="0" err="1"/>
              <a:t>en</a:t>
            </a:r>
            <a:r>
              <a:rPr lang="ko-KR" altLang="en-US" dirty="0"/>
              <a:t>에 도달할 수 있었고</a:t>
            </a:r>
            <a:r>
              <a:rPr lang="en-US" altLang="ko-KR" dirty="0"/>
              <a:t>, m</a:t>
            </a:r>
            <a:r>
              <a:rPr lang="ko-KR" altLang="en-US" dirty="0"/>
              <a:t>개의 경유지를 다 </a:t>
            </a:r>
            <a:r>
              <a:rPr lang="ko-KR" altLang="en-US" dirty="0" err="1"/>
              <a:t>거칠수</a:t>
            </a:r>
            <a:r>
              <a:rPr lang="ko-KR" altLang="en-US" dirty="0"/>
              <a:t> 있었는지</a:t>
            </a:r>
          </a:p>
          <a:p>
            <a:r>
              <a:rPr lang="ko-KR" altLang="en-US" dirty="0"/>
              <a:t>		</a:t>
            </a:r>
            <a:r>
              <a:rPr lang="en-US" altLang="ko-KR" dirty="0"/>
              <a:t>if(visited[</a:t>
            </a:r>
            <a:r>
              <a:rPr lang="en-US" altLang="ko-KR" dirty="0" err="1"/>
              <a:t>en</a:t>
            </a:r>
            <a:r>
              <a:rPr lang="en-US" altLang="ko-KR" dirty="0"/>
              <a:t>] == cc &amp;&amp; m == </a:t>
            </a:r>
            <a:r>
              <a:rPr lang="en-US" altLang="ko-KR" dirty="0" err="1"/>
              <a:t>cnt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		return true;</a:t>
            </a:r>
          </a:p>
          <a:p>
            <a:r>
              <a:rPr lang="en-US" altLang="ko-KR" dirty="0"/>
              <a:t>		return false;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3B66F-98FC-7DEE-9A0E-3B9BBD81A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5BD95C-8B60-4016-B063-43936C7F99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723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6252A-117A-42E0-9CDC-0A2BC844A69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03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F356-69DB-4A16-9DB2-34AAC3BB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0835BE-2B96-1952-9BD2-E08B1381E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9D8DDE-D95C-A342-1C8E-A87D1222A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07373-B958-1323-5512-16B368954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6252A-117A-42E0-9CDC-0A2BC844A69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549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F356-69DB-4A16-9DB2-34AAC3BB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0835BE-2B96-1952-9BD2-E08B1381E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9D8DDE-D95C-A342-1C8E-A87D1222A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07373-B958-1323-5512-16B368954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6252A-117A-42E0-9CDC-0A2BC844A69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096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2E07E-5648-B9A1-3B24-DA3801F25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18A2CC-FF3A-F197-0BA2-BA800076F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2B390C-80DD-50F9-000C-2E3CB451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154B2-41BB-D74B-0829-1DC4A203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85648A-25D2-F18C-7E5F-478B1760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98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32D45-DF86-5C8B-FC4D-E6D71EFC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DFD38B-8D8C-F7DC-1225-0DDCE8C0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B5A9F-E1DE-144A-A4DA-5406CCBB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B50B8E-FFE6-E2A8-DDED-763545E4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8832C-6686-2D19-3810-758A9216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6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08839-55B0-1265-9C3A-DB9F20E5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0DB6BC-59CB-8D86-B85C-F8B25EA7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39320C-8C31-92CB-4412-B631A70D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29C688-3031-79F4-CF35-9B32EF04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235DDA-CE7C-E89C-A639-1B37529D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28B13-6B79-E0DB-4086-EC19CB50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972C7E-D5EF-E99D-20E4-87D3BF8CB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9820F0-88E3-D08E-3863-854CAAB46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686041-9E1A-E5D1-AC11-CE4F5519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D5D972-ABF1-35D3-17E4-1E81AA04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F3DDF4-B963-2B59-4BB8-4B5397E1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0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375CD-79EE-6CB6-3F6A-30DDB8704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9CFF9E-9C33-42DD-3C25-65D605441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748E8-B1F7-B089-1DA7-195A533AA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731269-7552-1CE1-03A1-2E2CEB654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391F43-05E9-0B42-C972-F8E3570F7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66A764-DFAB-3C7A-C4F2-8D6174A9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277D12-957F-F015-6187-CEF09BB6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2A85E1-E0E6-C783-5ADE-5818F95D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42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C2928-F99B-B5CF-5C88-39C94FC9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7FB0CC-7D4A-7E77-2D32-D594A875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96B6EB-DFA4-28E4-94DD-AE8A4AD8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C4392-0626-E3B8-80FE-1F775518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F76C00-6FAB-5A28-2CF0-A53F1083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C8BEF5-FD35-FA39-98BD-5EA19B56F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979C53-45A6-B5B2-F095-811D7ECC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77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DA545-58BD-6ECF-2725-A75E8BA5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BD3DAC-244B-B0E3-BE28-4E41E5AC5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831E2E-B461-988A-FC89-4707C7E7B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E63D1E-6122-1C51-ADBA-887F5516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28000-2D87-5F3A-85CD-2C38FBD6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500C1-5B49-2DED-2F06-64B14022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2B57A-31B2-45B4-54AB-4136E2EC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EBE344-0CF2-6DF9-D1DC-D3C657C3F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B368C6-2976-2181-56C5-CC07BCEB0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4CB3E5-08C8-6B8B-656D-20CF51DD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B399C-635D-AE65-3745-E0767CB2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5514EF-AB84-1EB2-25E0-D50919FC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18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6DEC9-3627-033C-A439-AB90DA76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C617D7-4357-564B-5C2C-13307931B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EB19E-13A0-283C-CB6B-AD2DDA70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F88BA-B9A3-A0BE-A6E2-B7C591C5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C5C4E3-8448-3FB5-A0B3-93F6FB7E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1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E65639-2A20-3192-C7F1-C02B0567F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9125AF-6436-E015-9F9B-ADFCE9751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A0BEA-779E-EF6F-E9BD-CB9752C2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629E6-8034-0959-F513-4B70FE259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3A3F4-24FC-203B-6499-8E70947C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192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D:\#교재편집\★2019\박혜지대리\ssafy 입학식\추가\디자인\추가샘플1표지.png">
            <a:extLst>
              <a:ext uri="{FF2B5EF4-FFF2-40B4-BE49-F238E27FC236}">
                <a16:creationId xmlns:a16="http://schemas.microsoft.com/office/drawing/2014/main" id="{BFC20C88-8C2D-4251-9595-C37398DF42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34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육각형 12">
            <a:extLst>
              <a:ext uri="{FF2B5EF4-FFF2-40B4-BE49-F238E27FC236}">
                <a16:creationId xmlns:a16="http://schemas.microsoft.com/office/drawing/2014/main" id="{EAEBF2BE-0F33-4F51-95C5-A43B8C023EBA}"/>
              </a:ext>
            </a:extLst>
          </p:cNvPr>
          <p:cNvSpPr/>
          <p:nvPr userDrawn="1"/>
        </p:nvSpPr>
        <p:spPr>
          <a:xfrm>
            <a:off x="3230840" y="959159"/>
            <a:ext cx="5730321" cy="4939931"/>
          </a:xfrm>
          <a:prstGeom prst="hexagon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7F61711-3697-48CD-996F-0F0852F4EAE4}"/>
              </a:ext>
            </a:extLst>
          </p:cNvPr>
          <p:cNvSpPr/>
          <p:nvPr userDrawn="1"/>
        </p:nvSpPr>
        <p:spPr>
          <a:xfrm>
            <a:off x="3071664" y="821938"/>
            <a:ext cx="6048672" cy="5214372"/>
          </a:xfrm>
          <a:prstGeom prst="hexagon">
            <a:avLst/>
          </a:prstGeom>
          <a:noFill/>
          <a:ln w="285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58807AC-9EBC-46BB-8A6F-0640FA021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9" y="385433"/>
            <a:ext cx="1167973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52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" name="Picture 2" descr="D:\#교재편집\★2019\박혜지대리\ssafy 입학식\추가\디자인\추가샘플1표지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847" b="9856"/>
          <a:stretch/>
        </p:blipFill>
        <p:spPr bwMode="auto">
          <a:xfrm>
            <a:off x="0" y="0"/>
            <a:ext cx="12192000" cy="80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0952A06-7BC4-4C02-A2CE-030001ED8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9461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#교재편집\★2019\박혜지대리\ssafy 입학식\추가\디자인\추가샘플1표지.png">
            <a:extLst>
              <a:ext uri="{FF2B5EF4-FFF2-40B4-BE49-F238E27FC236}">
                <a16:creationId xmlns:a16="http://schemas.microsoft.com/office/drawing/2014/main" id="{A0EFC5C5-A142-4C9B-BE54-AAE62EE268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34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0BB34D-319A-4304-B893-5643330853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8"/>
          <a:stretch/>
        </p:blipFill>
        <p:spPr>
          <a:xfrm>
            <a:off x="0" y="1373614"/>
            <a:ext cx="12240000" cy="412897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379E4-3FB0-44B7-A6D9-4BA264C12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9" y="385433"/>
            <a:ext cx="1167973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68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#교재편집\★2019\박혜지대리\ssafy 입학식\추가\디자인\추가샘플1표지.png">
            <a:extLst>
              <a:ext uri="{FF2B5EF4-FFF2-40B4-BE49-F238E27FC236}">
                <a16:creationId xmlns:a16="http://schemas.microsoft.com/office/drawing/2014/main" id="{D7B7B063-C4B7-47FB-A67C-954E49D56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34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육각형 7">
            <a:extLst>
              <a:ext uri="{FF2B5EF4-FFF2-40B4-BE49-F238E27FC236}">
                <a16:creationId xmlns:a16="http://schemas.microsoft.com/office/drawing/2014/main" id="{37600405-D5FA-4FF8-AD43-E93524EE922E}"/>
              </a:ext>
            </a:extLst>
          </p:cNvPr>
          <p:cNvSpPr/>
          <p:nvPr userDrawn="1"/>
        </p:nvSpPr>
        <p:spPr>
          <a:xfrm>
            <a:off x="3448050" y="2273300"/>
            <a:ext cx="5270500" cy="2273300"/>
          </a:xfrm>
          <a:prstGeom prst="hexagon">
            <a:avLst/>
          </a:prstGeom>
          <a:solidFill>
            <a:sysClr val="window" lastClr="FFFFFF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삼성긴고딕 Bold" panose="020B0600000101010101" pitchFamily="50" charset="-127"/>
              <a:ea typeface="삼성긴고딕 Bold" panose="020B0600000101010101" pitchFamily="50" charset="-127"/>
              <a:cs typeface="+mn-cs"/>
            </a:endParaRPr>
          </a:p>
        </p:txBody>
      </p:sp>
      <p:sp>
        <p:nvSpPr>
          <p:cNvPr id="9" name="육각형 8">
            <a:extLst>
              <a:ext uri="{FF2B5EF4-FFF2-40B4-BE49-F238E27FC236}">
                <a16:creationId xmlns:a16="http://schemas.microsoft.com/office/drawing/2014/main" id="{8BD520EE-8290-441B-9ABB-D6537188328B}"/>
              </a:ext>
            </a:extLst>
          </p:cNvPr>
          <p:cNvSpPr/>
          <p:nvPr userDrawn="1"/>
        </p:nvSpPr>
        <p:spPr>
          <a:xfrm>
            <a:off x="3334296" y="2180123"/>
            <a:ext cx="5498008" cy="2459654"/>
          </a:xfrm>
          <a:prstGeom prst="hexagon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삼성긴고딕 Bold" panose="020B0600000101010101" pitchFamily="50" charset="-127"/>
              <a:ea typeface="삼성긴고딕 Bold" panose="020B0600000101010101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943492F-8DAF-4453-AF39-4C96D3B33968}"/>
              </a:ext>
            </a:extLst>
          </p:cNvPr>
          <p:cNvCxnSpPr>
            <a:stCxn id="9" idx="0"/>
          </p:cNvCxnSpPr>
          <p:nvPr userDrawn="1"/>
        </p:nvCxnSpPr>
        <p:spPr>
          <a:xfrm>
            <a:off x="8832304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67C035E-B4D7-4193-AA2D-468081993ECE}"/>
              </a:ext>
            </a:extLst>
          </p:cNvPr>
          <p:cNvCxnSpPr/>
          <p:nvPr userDrawn="1"/>
        </p:nvCxnSpPr>
        <p:spPr>
          <a:xfrm>
            <a:off x="-24680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CA35D103-56A4-4253-AF15-9CEBD717A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9" y="385433"/>
            <a:ext cx="1167973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08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B109A69C-E4F4-4E26-A217-B6C97FA93ED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B2D0BD9-0F66-4F44-98C2-8CB9114C0944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9C795AC-FFCB-48DD-94DE-BFB66CC140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" y="0"/>
              <a:ext cx="12191497" cy="804638"/>
            </a:xfrm>
            <a:prstGeom prst="rect">
              <a:avLst/>
            </a:prstGeom>
          </p:spPr>
        </p:pic>
      </p:grp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170EA1E-1ECC-4CAA-9FB8-06D28746F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215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D:\#교재편집\★2019\박혜지대리\ssafy 입학식\추가\디자인\추가샘플1표지.png">
            <a:extLst>
              <a:ext uri="{FF2B5EF4-FFF2-40B4-BE49-F238E27FC236}">
                <a16:creationId xmlns:a16="http://schemas.microsoft.com/office/drawing/2014/main" id="{BFC20C88-8C2D-4251-9595-C37398DF42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34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육각형 12">
            <a:extLst>
              <a:ext uri="{FF2B5EF4-FFF2-40B4-BE49-F238E27FC236}">
                <a16:creationId xmlns:a16="http://schemas.microsoft.com/office/drawing/2014/main" id="{EAEBF2BE-0F33-4F51-95C5-A43B8C023EBA}"/>
              </a:ext>
            </a:extLst>
          </p:cNvPr>
          <p:cNvSpPr/>
          <p:nvPr userDrawn="1"/>
        </p:nvSpPr>
        <p:spPr>
          <a:xfrm>
            <a:off x="3230840" y="959159"/>
            <a:ext cx="5730321" cy="4939931"/>
          </a:xfrm>
          <a:prstGeom prst="hexagon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7F61711-3697-48CD-996F-0F0852F4EAE4}"/>
              </a:ext>
            </a:extLst>
          </p:cNvPr>
          <p:cNvSpPr/>
          <p:nvPr userDrawn="1"/>
        </p:nvSpPr>
        <p:spPr>
          <a:xfrm>
            <a:off x="3071664" y="821938"/>
            <a:ext cx="6048672" cy="5214372"/>
          </a:xfrm>
          <a:prstGeom prst="hexagon">
            <a:avLst/>
          </a:prstGeom>
          <a:noFill/>
          <a:ln w="285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F2C9C87-0C15-46AB-8452-C4A45784E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9" y="385433"/>
            <a:ext cx="1167973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31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#교재편집\★2019\박혜지대리\ssafy 입학식\추가\디자인\추가샘플1표지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847" b="9856"/>
          <a:stretch/>
        </p:blipFill>
        <p:spPr bwMode="auto">
          <a:xfrm>
            <a:off x="0" y="0"/>
            <a:ext cx="12192000" cy="80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35168" y="124935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A97D1F-F626-49CE-9E21-59D031695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4341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512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6730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16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" name="Picture 2" descr="D:\#교재편집\★2019\박혜지대리\ssafy 입학식\추가\디자인\추가샘플1표지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847" b="9856"/>
          <a:stretch/>
        </p:blipFill>
        <p:spPr bwMode="auto">
          <a:xfrm>
            <a:off x="0" y="0"/>
            <a:ext cx="12192000" cy="80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78DD4D8-498B-438D-8BC0-E37EEEFDF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5017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98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9287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0649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173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" name="Picture 2" descr="D:\#교재편집\★2019\박혜지대리\ssafy 입학식\추가\디자인\추가샘플1표지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847" b="9856"/>
          <a:stretch/>
        </p:blipFill>
        <p:spPr bwMode="auto">
          <a:xfrm>
            <a:off x="0" y="0"/>
            <a:ext cx="12192000" cy="80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A7CABD6-76C2-48B4-915C-140D6EDAE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80158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509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" name="Picture 2" descr="D:\#교재편집\★2019\박혜지대리\ssafy 입학식\추가\디자인\추가샘플1표지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847" b="9856"/>
          <a:stretch/>
        </p:blipFill>
        <p:spPr bwMode="auto">
          <a:xfrm>
            <a:off x="0" y="0"/>
            <a:ext cx="12192000" cy="80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25B0C3E-78F8-4E5C-933E-161925E56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91072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2546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767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826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018199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D:\#교재편집\★2019\박혜지대리\ssafy 입학식\추가\디자인\추가샘플1표지.png">
            <a:extLst>
              <a:ext uri="{FF2B5EF4-FFF2-40B4-BE49-F238E27FC236}">
                <a16:creationId xmlns:a16="http://schemas.microsoft.com/office/drawing/2014/main" id="{BFC20C88-8C2D-4251-9595-C37398DF42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34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육각형 12">
            <a:extLst>
              <a:ext uri="{FF2B5EF4-FFF2-40B4-BE49-F238E27FC236}">
                <a16:creationId xmlns:a16="http://schemas.microsoft.com/office/drawing/2014/main" id="{EAEBF2BE-0F33-4F51-95C5-A43B8C023EBA}"/>
              </a:ext>
            </a:extLst>
          </p:cNvPr>
          <p:cNvSpPr/>
          <p:nvPr userDrawn="1"/>
        </p:nvSpPr>
        <p:spPr>
          <a:xfrm>
            <a:off x="3230840" y="959159"/>
            <a:ext cx="5730321" cy="4939931"/>
          </a:xfrm>
          <a:prstGeom prst="hexagon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7F61711-3697-48CD-996F-0F0852F4EAE4}"/>
              </a:ext>
            </a:extLst>
          </p:cNvPr>
          <p:cNvSpPr/>
          <p:nvPr userDrawn="1"/>
        </p:nvSpPr>
        <p:spPr>
          <a:xfrm>
            <a:off x="3071664" y="821938"/>
            <a:ext cx="6048672" cy="5214372"/>
          </a:xfrm>
          <a:prstGeom prst="hexagon">
            <a:avLst/>
          </a:prstGeom>
          <a:noFill/>
          <a:ln w="285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1E9E4CA1-3CD3-44FD-8D5F-B84DAF493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725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C00000"/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9" y="385433"/>
            <a:ext cx="1167973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3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4F5267-289F-11C1-D604-B6967BB5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591A40-8248-D2A9-8044-F638C6EAF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95D1A-9115-BBC3-80B3-5644E3E34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FDD2C4-3D9A-EA89-5686-5EC01CB7D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8A185E-C4EA-0A33-627A-9E9226DFF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887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664" r:id="rId15"/>
    <p:sldLayoutId id="2147483666" r:id="rId16"/>
    <p:sldLayoutId id="2147483667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071664" y="821938"/>
            <a:ext cx="6048672" cy="5214372"/>
            <a:chOff x="3071664" y="821938"/>
            <a:chExt cx="6048672" cy="5214372"/>
          </a:xfrm>
        </p:grpSpPr>
        <p:sp>
          <p:nvSpPr>
            <p:cNvPr id="2" name="육각형 1"/>
            <p:cNvSpPr/>
            <p:nvPr/>
          </p:nvSpPr>
          <p:spPr>
            <a:xfrm>
              <a:off x="3230840" y="959159"/>
              <a:ext cx="5730321" cy="4939931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육각형 8"/>
            <p:cNvSpPr/>
            <p:nvPr/>
          </p:nvSpPr>
          <p:spPr>
            <a:xfrm>
              <a:off x="3071664" y="821938"/>
              <a:ext cx="6048672" cy="5214372"/>
            </a:xfrm>
            <a:prstGeom prst="hexagon">
              <a:avLst/>
            </a:prstGeom>
            <a:noFill/>
            <a:ln w="28575">
              <a:solidFill>
                <a:schemeClr val="bg1"/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609332" y="2080138"/>
            <a:ext cx="4973329" cy="2614818"/>
            <a:chOff x="3609332" y="1998886"/>
            <a:chExt cx="4973329" cy="2614818"/>
          </a:xfrm>
        </p:grpSpPr>
        <p:sp>
          <p:nvSpPr>
            <p:cNvPr id="10" name="직사각형 9"/>
            <p:cNvSpPr/>
            <p:nvPr/>
          </p:nvSpPr>
          <p:spPr>
            <a:xfrm>
              <a:off x="3609332" y="1998886"/>
              <a:ext cx="4973329" cy="18466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삼성긴고딕 Bold" panose="020B0600000101010101" pitchFamily="50" charset="-127"/>
                  <a:ea typeface="삼성긴고딕 Bold" panose="020B0600000101010101" pitchFamily="50" charset="-127"/>
                  <a:cs typeface="+mn-cs"/>
                </a:rPr>
                <a:t>삼성청년</a:t>
              </a:r>
              <a:r>
                <a:rPr kumimoji="1" lang="en-US" altLang="ko-KR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삼성긴고딕 Bold" panose="020B0600000101010101" pitchFamily="50" charset="-127"/>
                  <a:ea typeface="삼성긴고딕 Bold" panose="020B0600000101010101" pitchFamily="50" charset="-127"/>
                  <a:cs typeface="+mn-cs"/>
                </a:rPr>
                <a:t/>
              </a:r>
              <a:br>
                <a:rPr kumimoji="1" lang="en-US" altLang="ko-KR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삼성긴고딕 Bold" panose="020B0600000101010101" pitchFamily="50" charset="-127"/>
                  <a:ea typeface="삼성긴고딕 Bold" panose="020B0600000101010101" pitchFamily="50" charset="-127"/>
                  <a:cs typeface="+mn-cs"/>
                </a:rPr>
              </a:br>
              <a:r>
                <a:rPr kumimoji="1" lang="en-US" altLang="ko-KR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삼성긴고딕 Bold" panose="020B0600000101010101" pitchFamily="50" charset="-127"/>
                  <a:ea typeface="삼성긴고딕 Bold" panose="020B0600000101010101" pitchFamily="50" charset="-127"/>
                  <a:cs typeface="+mn-cs"/>
                </a:rPr>
                <a:t>SW·AI</a:t>
              </a:r>
              <a:r>
                <a:rPr kumimoji="1" lang="ko-KR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삼성긴고딕 Bold" panose="020B0600000101010101" pitchFamily="50" charset="-127"/>
                  <a:ea typeface="삼성긴고딕 Bold" panose="020B0600000101010101" pitchFamily="50" charset="-127"/>
                  <a:cs typeface="+mn-cs"/>
                </a:rPr>
                <a:t>아카데미</a:t>
              </a: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4655837" y="4126350"/>
              <a:ext cx="2880321" cy="487354"/>
              <a:chOff x="4743006" y="4141099"/>
              <a:chExt cx="2705987" cy="457856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4743006" y="4141099"/>
                <a:ext cx="2705987" cy="457856"/>
              </a:xfrm>
              <a:prstGeom prst="rect">
                <a:avLst/>
              </a:prstGeom>
              <a:solidFill>
                <a:srgbClr val="004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704449" y="4239911"/>
                <a:ext cx="783111" cy="2602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>
                    <a:solidFill>
                      <a:prstClr val="white">
                        <a:alpha val="99000"/>
                      </a:prst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</a:rPr>
                  <a:t>B</a:t>
                </a:r>
                <a:r>
                  <a:rPr lang="ko-KR" altLang="en-US" dirty="0">
                    <a:solidFill>
                      <a:prstClr val="white">
                        <a:alpha val="99000"/>
                      </a:prstClr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</a:rPr>
                  <a:t>형 특강</a:t>
                </a:r>
                <a:endPara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99000"/>
                    </a:prstClr>
                  </a:solidFill>
                  <a:effectLst/>
                  <a:uLnTx/>
                  <a:uFillTx/>
                  <a:latin typeface="삼성긴고딕 Medium" panose="020B0600000101010101" pitchFamily="50" charset="-127"/>
                  <a:ea typeface="삼성긴고딕 Medium" panose="020B0600000101010101" pitchFamily="50" charset="-127"/>
                  <a:cs typeface="+mn-cs"/>
                </a:endParaRPr>
              </a:p>
            </p:txBody>
          </p:sp>
        </p:grp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EE988-F5BF-41C1-A8AD-A85F17004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1A59E1-85F6-4F08-BE94-CC14AB77733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96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0722" y="925834"/>
            <a:ext cx="946967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&lt;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알림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&gt;</a:t>
            </a:r>
          </a:p>
          <a:p>
            <a:pPr marL="285750" marR="0" lvl="0" indent="-28575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본 강의는 삼성청년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SW</a:t>
            </a:r>
            <a:r>
              <a:rPr lang="en-US" altLang="ko-KR" sz="3200" dirty="0">
                <a:solidFill>
                  <a:prstClr val="black"/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·AI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아카데미의 콘텐츠로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보안서약서에 의거하여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강의 내용을 어떠한 사유로도 임의로 복사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촬영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녹음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복제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보관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전송하거나 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허가 받지 않은 저장매체를 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이용한 보관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제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3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자에게 누설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공개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또는 사용하는 등의 행위를 금합니다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체" panose="02030609000101010101" pitchFamily="17" charset="-127"/>
                <a:ea typeface="궁서체" panose="02030609000101010101" pitchFamily="17" charset="-127"/>
                <a:cs typeface="+mn-cs"/>
              </a:rPr>
              <a:t>.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체" panose="02030609000101010101" pitchFamily="17" charset="-127"/>
              <a:ea typeface="궁서체" panose="02030609000101010101" pitchFamily="17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3214B-EC92-4053-ABF8-641865924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1A59E1-85F6-4F08-BE94-CC14AB77733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4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E480-6CD4-F308-170A-BDDE4FAC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74832-441D-2AB6-5F73-10687E809A2D}"/>
              </a:ext>
            </a:extLst>
          </p:cNvPr>
          <p:cNvSpPr txBox="1"/>
          <p:nvPr/>
        </p:nvSpPr>
        <p:spPr>
          <a:xfrm>
            <a:off x="822960" y="3044279"/>
            <a:ext cx="10546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glow rad="63500">
                    <a:srgbClr val="70AD47">
                      <a:satMod val="175000"/>
                      <a:alpha val="40000"/>
                    </a:srgbClr>
                  </a:glow>
                  <a:outerShdw dist="38100" dir="2700000" algn="bl" rotWithShape="0">
                    <a:srgbClr val="4472C4"/>
                  </a:outerShdw>
                </a:effectLst>
                <a:uLnTx/>
                <a:uFillTx/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rPr>
              <a:t>Pro</a:t>
            </a:r>
            <a:r>
              <a:rPr kumimoji="0" lang="ko-KR" altLang="en-US" sz="4400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glow rad="63500">
                    <a:srgbClr val="70AD47">
                      <a:satMod val="175000"/>
                      <a:alpha val="40000"/>
                    </a:srgbClr>
                  </a:glow>
                  <a:outerShdw dist="38100" dir="2700000" algn="bl" rotWithShape="0">
                    <a:srgbClr val="4472C4"/>
                  </a:outerShdw>
                </a:effectLst>
                <a:uLnTx/>
                <a:uFillTx/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rPr>
              <a:t> 연습 문제</a:t>
            </a:r>
            <a:r>
              <a:rPr kumimoji="0" lang="en-US" altLang="ko-KR" sz="4400" b="1" i="0" u="none" strike="noStrike" kern="1200" cap="none" spc="0" normalizeH="0" baseline="0" noProof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glow rad="63500">
                    <a:srgbClr val="70AD47">
                      <a:satMod val="175000"/>
                      <a:alpha val="40000"/>
                    </a:srgbClr>
                  </a:glow>
                  <a:outerShdw dist="38100" dir="2700000" algn="bl" rotWithShape="0">
                    <a:srgbClr val="4472C4"/>
                  </a:outerShdw>
                </a:effectLst>
                <a:uLnTx/>
                <a:uFillTx/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rPr>
              <a:t>. </a:t>
            </a:r>
            <a:r>
              <a:rPr kumimoji="0" lang="ko-KR" altLang="en-US" sz="4400" b="1" i="0" u="none" strike="noStrike" kern="1200" cap="none" spc="0" normalizeH="0" baseline="0" noProof="0" smtClean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glow rad="63500">
                    <a:srgbClr val="70AD47">
                      <a:satMod val="175000"/>
                      <a:alpha val="40000"/>
                    </a:srgbClr>
                  </a:glow>
                  <a:outerShdw dist="38100" dir="2700000" algn="bl" rotWithShape="0">
                    <a:srgbClr val="4472C4"/>
                  </a:outerShdw>
                </a:effectLst>
                <a:uLnTx/>
                <a:uFillTx/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rPr>
              <a:t>식당의 가치</a:t>
            </a:r>
            <a:endParaRPr kumimoji="0" lang="ko-KR" altLang="en-US" sz="4400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glow rad="63500">
                  <a:srgbClr val="70AD47">
                    <a:satMod val="175000"/>
                    <a:alpha val="40000"/>
                  </a:srgbClr>
                </a:glow>
                <a:outerShdw dist="38100" dir="2700000" algn="bl" rotWithShape="0">
                  <a:srgbClr val="4472C4"/>
                </a:outerShdw>
              </a:effectLst>
              <a:uLnTx/>
              <a:uFillTx/>
              <a:latin typeface="삼성긴고딕 Bold" panose="020B0600000101010101" pitchFamily="50" charset="-127"/>
              <a:ea typeface="삼성긴고딕 Bold" panose="020B0600000101010101" pitchFamily="50" charset="-127"/>
              <a:cs typeface="+mn-cs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BE701D-FCCF-AB34-2A50-9B85700BF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1A59E1-85F6-4F08-BE94-CC14AB77733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8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5DE9-B986-590F-13DC-692FB2DD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114D8FC-1E76-6A54-E462-07BA290C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ko-KR" altLang="en-US" sz="3200" dirty="0"/>
              <a:t>문제 이해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71" y="1443037"/>
            <a:ext cx="74961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8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1AEF-4FDB-3592-ADB1-34744037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AD23AD-155D-FFF8-D6CD-B60C8BE2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en-US" altLang="ko-KR" sz="3200" dirty="0"/>
              <a:t>API</a:t>
            </a:r>
            <a:endParaRPr lang="ko-KR" altLang="en-US" sz="3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6" y="1565495"/>
            <a:ext cx="65246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9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1AEF-4FDB-3592-ADB1-34744037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AD23AD-155D-FFF8-D6CD-B60C8BE2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en-US" altLang="ko-KR" sz="3200" dirty="0"/>
              <a:t>API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2" y="1175960"/>
            <a:ext cx="62103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9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1AEF-4FDB-3592-ADB1-34744037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AD23AD-155D-FFF8-D6CD-B60C8BE2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en-US" altLang="ko-KR" sz="3200" dirty="0"/>
              <a:t>API</a:t>
            </a:r>
            <a:endParaRPr lang="ko-KR" altLang="en-US" sz="3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51140"/>
          <a:stretch/>
        </p:blipFill>
        <p:spPr>
          <a:xfrm>
            <a:off x="346390" y="1239665"/>
            <a:ext cx="10267950" cy="300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60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1AEF-4FDB-3592-ADB1-34744037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AD23AD-155D-FFF8-D6CD-B60C8BE2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en-US" altLang="ko-KR" sz="3200" dirty="0"/>
              <a:t>API</a:t>
            </a:r>
            <a:endParaRPr lang="ko-KR" altLang="en-US" sz="3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48565"/>
          <a:stretch/>
        </p:blipFill>
        <p:spPr>
          <a:xfrm>
            <a:off x="427870" y="841972"/>
            <a:ext cx="10267950" cy="316484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70" y="4006818"/>
            <a:ext cx="88773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8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5DD3-6B60-1C93-98AF-3B1ABCD2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55B66C-C609-6E0D-C1F5-F92CC408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ko-KR" altLang="en-US" sz="3200" dirty="0"/>
              <a:t>예시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89" y="1418848"/>
            <a:ext cx="89439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3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5DD3-6B60-1C93-98AF-3B1ABCD2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55B66C-C609-6E0D-C1F5-F92CC408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식당의 가치 </a:t>
            </a:r>
            <a:r>
              <a:rPr lang="en-US" altLang="ko-KR" sz="3200" smtClean="0"/>
              <a:t>– </a:t>
            </a:r>
            <a:r>
              <a:rPr lang="ko-KR" altLang="en-US" sz="3200" dirty="0"/>
              <a:t>예시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68" y="915013"/>
            <a:ext cx="88106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12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751</Words>
  <Application>Microsoft Office PowerPoint</Application>
  <PresentationFormat>와이드스크린</PresentationFormat>
  <Paragraphs>133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궁서체</vt:lpstr>
      <vt:lpstr>맑은 고딕</vt:lpstr>
      <vt:lpstr>삼성긴고딕 Bold</vt:lpstr>
      <vt:lpstr>삼성긴고딕 Medium</vt:lpstr>
      <vt:lpstr>Arial</vt:lpstr>
      <vt:lpstr>Office 테마</vt:lpstr>
      <vt:lpstr>PowerPoint 프레젠테이션</vt:lpstr>
      <vt:lpstr>PowerPoint 프레젠테이션</vt:lpstr>
      <vt:lpstr>PowerPoint 프레젠테이션</vt:lpstr>
      <vt:lpstr>식당의 가치 – 문제 이해</vt:lpstr>
      <vt:lpstr>식당의 가치 – API</vt:lpstr>
      <vt:lpstr>식당의 가치 – API</vt:lpstr>
      <vt:lpstr>식당의 가치 – API</vt:lpstr>
      <vt:lpstr>식당의 가치 – API</vt:lpstr>
      <vt:lpstr>식당의 가치 – 예시</vt:lpstr>
      <vt:lpstr>식당의 가치 –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MULTICAMPUS</dc:creator>
  <cp:lastModifiedBy>Windows 사용자</cp:lastModifiedBy>
  <cp:revision>295</cp:revision>
  <dcterms:created xsi:type="dcterms:W3CDTF">2024-12-09T08:24:02Z</dcterms:created>
  <dcterms:modified xsi:type="dcterms:W3CDTF">2025-07-02T01:26:42Z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